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57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5DB18B-5B42-42B6-9834-406BF8C52E13}" v="2" dt="2026-05-22T02:29:20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55D53-4D35-4F6D-86E1-6598AEE46AEF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75FB7-D46D-4BEA-928C-229C23D54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6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75FB7-D46D-4BEA-928C-229C23D54C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85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145DF-1FE3-FEA4-F0A2-D67E797E1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1A750-6E21-A735-C57E-52254EB8E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B3E2F-C511-BD69-0200-8B4B0991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3BF6-873E-445D-97F7-94B13A5E5A25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22DCF-3DEB-CCFF-AE91-0284531B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2ADE7-5A1B-8D32-BAC2-171D94CC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2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7143-E9B2-7620-BCAF-4AF5E434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BFD55-D24A-0D5F-232C-71565E7AD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F877D-498B-CD31-BDD1-9740A6AD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446B-857E-467A-BBDC-BA7BC39EDEAB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465AA-2AA0-27E4-C5EC-7F82E283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AE807-363E-AED3-3DCF-A5546D36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4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443C-F9F7-E562-A3A3-C4BC10B31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05721-3EFC-192A-26FA-87A7A2C7F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6ED67-5012-96D3-3D23-E617FC20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4F3-7B4F-4C21-8D46-13D17C38A6C9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0F5EC-8B3B-25A9-0D0F-A5BD486F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1D4FF-D7C9-72F0-49B9-E10E526B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0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1166-603F-F674-1D2B-8046F5EAA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16651-427A-EE39-FD08-7CA65FD38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24259-CF28-7507-91BC-4ABF39667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53DF8-3A32-A4B2-7097-D2AB45C9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7428C-ABD2-481D-A1EB-0B69850402B5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671E4-D271-C03D-97DA-0E6FA4C4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35110-CA5D-6FDE-A0F0-7BE12F4D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83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2BB0-918E-9783-4769-AA907739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39149-A785-E288-E18F-45419FD7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A6905-694E-B375-0315-C0B4C7B66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4666B-DA11-480F-9838-9F518919B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831F4-09F3-BC47-84AA-F4A990822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37C791-004B-22AD-1A79-EE69E517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9A5E-9A38-4B8B-8C6A-77B1A65791D9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B0699-A48C-C4C6-C9BD-E14ACCB3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10438E-0BCE-64DD-310A-BA6E5357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0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53E46-08AD-0CA5-3CD8-B151F2DA4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D824D-134A-F0F9-41A9-62BE3A0DF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9CBDD-76C5-4DE7-9877-82345D88C983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97667-4396-C768-EF09-15F1C3F4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0C920-D109-A2F1-5416-1535D4E8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5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11093-14CF-C649-3DA8-459CA571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2C4E-6A2A-4F32-A763-7055C182B28C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F6E3C-F57D-E7D7-B824-DD2BCA99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BA56B-3770-B159-AF11-50707AB6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0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A785-5C64-2283-7C01-668717000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AF82-520B-41BB-BFC2-8BD216F01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E874C-BA5B-3E33-8319-6C10C7DC2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C99DC-7A92-BE21-B607-9F4FA993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79427-BC9F-433D-9FA2-7AEE5066494E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848D1-1E2A-A256-0678-1F0FD32F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2702D-1DD8-B9B4-F68F-03667B1D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4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E6EE-6565-F306-72A6-009ED68E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D51C7F-3304-AEAC-5162-22973E03F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A1C4B-BA02-17A6-76FA-22C4B7A8E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2770C-2CEC-69FF-09D5-69694B8B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0C3D-AD57-427B-8D1D-0F00009BFF46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08789-A15F-E421-673F-77A7AC36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99F4B-0F2C-28DB-FCF9-24360FEA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5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7F72-0504-56FE-103B-E01A96BE4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C6CD7-D960-69B4-A556-23DC774F3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594CD-FD13-4FF0-CFC0-4933BC9DE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EAF04-A44C-4F4C-87BE-DB4CB4E8C241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8E8B2-8606-9F95-1C75-1A921B96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2366B-DF69-42D1-30B0-3F4923F9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0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52CE7-ADFC-E762-F926-69DA47A42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09BD9-BFA2-7199-6848-D9C121483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35FDB-78F6-D3F0-BB39-E5300C097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1B4D-0648-401A-9FD3-42A4D009ECB0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B1E36-A6C8-F967-7CDC-F01EFA59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4B3C2-7619-B4A9-3959-C47E49DF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9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881FA-CE26-B5F5-2496-5C1409188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ECFA1-3B1E-5E81-DFCB-8F9C9E651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8AFF0-1D80-421D-0AD5-8AF87630A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843A8-3A9E-49DA-8574-B037C996A3D7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BF4C-56EF-9132-A4F3-271350CA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CONFIDENTIAL - Houby GrowTech, LLC.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7F6A9-507D-779F-B03B-FDBF83843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7CE6-2069-4612-9DAD-DA5F91614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4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C6CC-150B-3DCD-CCB1-2C7870569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Incubator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A0E7C-2611-D5ED-2655-3268457224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you will need to understand for Firmware development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0BEF9-8E9F-E4C8-9989-F286B587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908A1-5339-5A9C-E9D5-5738ECDF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35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DE482-AF57-8B86-5D03-7F018CA0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Incubator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E4CD-B2B2-96D2-0E4F-E2CEE917F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incubator will maintain an environment for growing microbes within a flask.</a:t>
            </a:r>
          </a:p>
          <a:p>
            <a:r>
              <a:rPr lang="en-US" dirty="0"/>
              <a:t>It will house the shaker table which will have flasks containing liquid medium with an active culture.</a:t>
            </a:r>
          </a:p>
          <a:p>
            <a:r>
              <a:rPr lang="en-US" dirty="0"/>
              <a:t>The current user interface uses a web browser, which will communicate with the microcontroller over WiFi.</a:t>
            </a:r>
          </a:p>
          <a:p>
            <a:r>
              <a:rPr lang="en-US" dirty="0"/>
              <a:t>The web browser will maintain environmental variables for the current (internal) incubator temperature, along with target temperature, and temperature range.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65B78-226B-4123-F7B3-E91BE9279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8B2EA-B06D-66E6-30D0-AF838BB6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27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880886B-02ED-4317-9236-CB60C22CF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B930C-C004-2DD7-242D-A90EAF38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419600"/>
            <a:ext cx="10908792" cy="12039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Incubator Proof-of-concept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6579EC-125A-E866-6E70-21C6FE219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50"/>
          <a:stretch>
            <a:fillRect/>
          </a:stretch>
        </p:blipFill>
        <p:spPr>
          <a:xfrm>
            <a:off x="6" y="-11"/>
            <a:ext cx="6095994" cy="4194796"/>
          </a:xfrm>
          <a:custGeom>
            <a:avLst/>
            <a:gdLst/>
            <a:ahLst/>
            <a:cxnLst/>
            <a:rect l="l" t="t" r="r" b="b"/>
            <a:pathLst>
              <a:path w="6002835" h="4194796">
                <a:moveTo>
                  <a:pt x="0" y="0"/>
                </a:moveTo>
                <a:lnTo>
                  <a:pt x="5999418" y="0"/>
                </a:lnTo>
                <a:lnTo>
                  <a:pt x="5996190" y="32760"/>
                </a:lnTo>
                <a:cubicBezTo>
                  <a:pt x="5998706" y="293110"/>
                  <a:pt x="5983874" y="553460"/>
                  <a:pt x="5997116" y="813682"/>
                </a:cubicBezTo>
                <a:cubicBezTo>
                  <a:pt x="6007314" y="1015047"/>
                  <a:pt x="6000824" y="1216284"/>
                  <a:pt x="5997116" y="1417522"/>
                </a:cubicBezTo>
                <a:cubicBezTo>
                  <a:pt x="5989967" y="1803471"/>
                  <a:pt x="6000824" y="2188911"/>
                  <a:pt x="5996190" y="2574351"/>
                </a:cubicBezTo>
                <a:cubicBezTo>
                  <a:pt x="5994204" y="2745205"/>
                  <a:pt x="5996454" y="2915805"/>
                  <a:pt x="6000824" y="3086660"/>
                </a:cubicBezTo>
                <a:cubicBezTo>
                  <a:pt x="6007180" y="3330611"/>
                  <a:pt x="5997382" y="3574689"/>
                  <a:pt x="5986656" y="3818514"/>
                </a:cubicBezTo>
                <a:cubicBezTo>
                  <a:pt x="5983054" y="3885559"/>
                  <a:pt x="5982107" y="3952684"/>
                  <a:pt x="5983808" y="4019746"/>
                </a:cubicBezTo>
                <a:lnTo>
                  <a:pt x="5993788" y="4173418"/>
                </a:lnTo>
                <a:lnTo>
                  <a:pt x="5955106" y="4175101"/>
                </a:lnTo>
                <a:cubicBezTo>
                  <a:pt x="5890100" y="4175133"/>
                  <a:pt x="5825078" y="4173227"/>
                  <a:pt x="5760087" y="4171956"/>
                </a:cubicBezTo>
                <a:cubicBezTo>
                  <a:pt x="5521345" y="4167509"/>
                  <a:pt x="5282477" y="4171956"/>
                  <a:pt x="5044242" y="4149213"/>
                </a:cubicBezTo>
                <a:cubicBezTo>
                  <a:pt x="4979506" y="4143051"/>
                  <a:pt x="4914326" y="4139111"/>
                  <a:pt x="4849272" y="4139890"/>
                </a:cubicBezTo>
                <a:cubicBezTo>
                  <a:pt x="4784218" y="4140668"/>
                  <a:pt x="4719291" y="4146163"/>
                  <a:pt x="4655063" y="4158869"/>
                </a:cubicBezTo>
                <a:cubicBezTo>
                  <a:pt x="4447578" y="4199146"/>
                  <a:pt x="4239457" y="4201688"/>
                  <a:pt x="4029811" y="4185424"/>
                </a:cubicBezTo>
                <a:cubicBezTo>
                  <a:pt x="3943792" y="4178690"/>
                  <a:pt x="3857774" y="4167509"/>
                  <a:pt x="3771375" y="4169669"/>
                </a:cubicBezTo>
                <a:cubicBezTo>
                  <a:pt x="3623225" y="4173608"/>
                  <a:pt x="3474948" y="4165603"/>
                  <a:pt x="3326672" y="4167636"/>
                </a:cubicBezTo>
                <a:cubicBezTo>
                  <a:pt x="3322669" y="4168208"/>
                  <a:pt x="3318578" y="4167674"/>
                  <a:pt x="3314855" y="4166111"/>
                </a:cubicBezTo>
                <a:cubicBezTo>
                  <a:pt x="3278008" y="4140827"/>
                  <a:pt x="3237604" y="4150610"/>
                  <a:pt x="3199487" y="4157217"/>
                </a:cubicBezTo>
                <a:cubicBezTo>
                  <a:pt x="3072810" y="4179198"/>
                  <a:pt x="2946260" y="4189998"/>
                  <a:pt x="2817550" y="4172972"/>
                </a:cubicBezTo>
                <a:cubicBezTo>
                  <a:pt x="2694647" y="4155146"/>
                  <a:pt x="2569990" y="4152923"/>
                  <a:pt x="2446541" y="4166365"/>
                </a:cubicBezTo>
                <a:cubicBezTo>
                  <a:pt x="2276791" y="4186186"/>
                  <a:pt x="2107677" y="4181993"/>
                  <a:pt x="1938308" y="4166365"/>
                </a:cubicBezTo>
                <a:cubicBezTo>
                  <a:pt x="1869570" y="4160013"/>
                  <a:pt x="1799815" y="4149213"/>
                  <a:pt x="1731712" y="4165095"/>
                </a:cubicBezTo>
                <a:cubicBezTo>
                  <a:pt x="1647854" y="4184535"/>
                  <a:pt x="1564250" y="4178182"/>
                  <a:pt x="1480137" y="4173862"/>
                </a:cubicBezTo>
                <a:cubicBezTo>
                  <a:pt x="1373663" y="4168271"/>
                  <a:pt x="1267442" y="4152135"/>
                  <a:pt x="1160586" y="4164841"/>
                </a:cubicBezTo>
                <a:cubicBezTo>
                  <a:pt x="1111161" y="4170685"/>
                  <a:pt x="1062116" y="4179961"/>
                  <a:pt x="1012055" y="4177547"/>
                </a:cubicBezTo>
                <a:cubicBezTo>
                  <a:pt x="873562" y="4171194"/>
                  <a:pt x="735196" y="4163697"/>
                  <a:pt x="596449" y="4164841"/>
                </a:cubicBezTo>
                <a:cubicBezTo>
                  <a:pt x="538383" y="4165222"/>
                  <a:pt x="480699" y="4167128"/>
                  <a:pt x="422887" y="4171321"/>
                </a:cubicBezTo>
                <a:cubicBezTo>
                  <a:pt x="315015" y="4179198"/>
                  <a:pt x="207524" y="4168525"/>
                  <a:pt x="100033" y="4164714"/>
                </a:cubicBezTo>
                <a:lnTo>
                  <a:pt x="0" y="4169195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04CC50-9081-A15F-E700-A3BB983B3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0" r="-3" b="-3"/>
          <a:stretch>
            <a:fillRect/>
          </a:stretch>
        </p:blipFill>
        <p:spPr>
          <a:xfrm>
            <a:off x="6019800" y="12"/>
            <a:ext cx="6172195" cy="4186171"/>
          </a:xfrm>
          <a:custGeom>
            <a:avLst/>
            <a:gdLst/>
            <a:ahLst/>
            <a:cxnLst/>
            <a:rect l="l" t="t" r="r" b="b"/>
            <a:pathLst>
              <a:path w="6009490" h="4186171">
                <a:moveTo>
                  <a:pt x="9049" y="0"/>
                </a:moveTo>
                <a:lnTo>
                  <a:pt x="6009490" y="0"/>
                </a:lnTo>
                <a:lnTo>
                  <a:pt x="6009490" y="4168273"/>
                </a:lnTo>
                <a:lnTo>
                  <a:pt x="5803951" y="4172925"/>
                </a:lnTo>
                <a:cubicBezTo>
                  <a:pt x="5729787" y="4171950"/>
                  <a:pt x="5655658" y="4168322"/>
                  <a:pt x="5581704" y="4162045"/>
                </a:cubicBezTo>
                <a:cubicBezTo>
                  <a:pt x="5474340" y="4154041"/>
                  <a:pt x="5366086" y="4142987"/>
                  <a:pt x="5259485" y="4163316"/>
                </a:cubicBezTo>
                <a:cubicBezTo>
                  <a:pt x="5142465" y="4185805"/>
                  <a:pt x="5025571" y="4185932"/>
                  <a:pt x="4907534" y="4180215"/>
                </a:cubicBezTo>
                <a:cubicBezTo>
                  <a:pt x="4806650" y="4175387"/>
                  <a:pt x="4706147" y="4149975"/>
                  <a:pt x="4604501" y="4176784"/>
                </a:cubicBezTo>
                <a:cubicBezTo>
                  <a:pt x="4594387" y="4178258"/>
                  <a:pt x="4584082" y="4177826"/>
                  <a:pt x="4574133" y="4175514"/>
                </a:cubicBezTo>
                <a:cubicBezTo>
                  <a:pt x="4462958" y="4160140"/>
                  <a:pt x="4351020" y="4172718"/>
                  <a:pt x="4239463" y="4168398"/>
                </a:cubicBezTo>
                <a:cubicBezTo>
                  <a:pt x="4188005" y="4166365"/>
                  <a:pt x="4135530" y="4167509"/>
                  <a:pt x="4084706" y="4162045"/>
                </a:cubicBezTo>
                <a:cubicBezTo>
                  <a:pt x="3968067" y="4149594"/>
                  <a:pt x="3851682" y="4142987"/>
                  <a:pt x="3736314" y="4172337"/>
                </a:cubicBezTo>
                <a:cubicBezTo>
                  <a:pt x="3702643" y="4180253"/>
                  <a:pt x="3668235" y="4184509"/>
                  <a:pt x="3633650" y="4185043"/>
                </a:cubicBezTo>
                <a:cubicBezTo>
                  <a:pt x="3520696" y="4189109"/>
                  <a:pt x="3408122" y="4181358"/>
                  <a:pt x="3295549" y="4175005"/>
                </a:cubicBezTo>
                <a:cubicBezTo>
                  <a:pt x="3217408" y="4170558"/>
                  <a:pt x="3139394" y="4160902"/>
                  <a:pt x="3061127" y="4169034"/>
                </a:cubicBezTo>
                <a:cubicBezTo>
                  <a:pt x="3015640" y="4173735"/>
                  <a:pt x="2969772" y="4173735"/>
                  <a:pt x="2924285" y="4169034"/>
                </a:cubicBezTo>
                <a:cubicBezTo>
                  <a:pt x="2840452" y="4159212"/>
                  <a:pt x="2755870" y="4157382"/>
                  <a:pt x="2671694" y="4163570"/>
                </a:cubicBezTo>
                <a:cubicBezTo>
                  <a:pt x="2546033" y="4174370"/>
                  <a:pt x="2420500" y="4183391"/>
                  <a:pt x="2294459" y="4166238"/>
                </a:cubicBezTo>
                <a:cubicBezTo>
                  <a:pt x="2222976" y="4155006"/>
                  <a:pt x="2150298" y="4153685"/>
                  <a:pt x="2078460" y="4162300"/>
                </a:cubicBezTo>
                <a:cubicBezTo>
                  <a:pt x="1907313" y="4186314"/>
                  <a:pt x="1735785" y="4178563"/>
                  <a:pt x="1564257" y="4168653"/>
                </a:cubicBezTo>
                <a:cubicBezTo>
                  <a:pt x="1449650" y="4161918"/>
                  <a:pt x="1334536" y="4149594"/>
                  <a:pt x="1220183" y="4165857"/>
                </a:cubicBezTo>
                <a:cubicBezTo>
                  <a:pt x="1074321" y="4186186"/>
                  <a:pt x="928331" y="4179452"/>
                  <a:pt x="782087" y="4173481"/>
                </a:cubicBezTo>
                <a:cubicBezTo>
                  <a:pt x="674723" y="4169034"/>
                  <a:pt x="567232" y="4155565"/>
                  <a:pt x="459614" y="4172210"/>
                </a:cubicBezTo>
                <a:cubicBezTo>
                  <a:pt x="448535" y="4173722"/>
                  <a:pt x="437265" y="4172591"/>
                  <a:pt x="426706" y="4168907"/>
                </a:cubicBezTo>
                <a:cubicBezTo>
                  <a:pt x="385869" y="4155464"/>
                  <a:pt x="342085" y="4153660"/>
                  <a:pt x="300283" y="4163697"/>
                </a:cubicBezTo>
                <a:cubicBezTo>
                  <a:pt x="223159" y="4180596"/>
                  <a:pt x="146162" y="4187965"/>
                  <a:pt x="67640" y="4172591"/>
                </a:cubicBezTo>
                <a:lnTo>
                  <a:pt x="14015" y="4169393"/>
                </a:lnTo>
                <a:lnTo>
                  <a:pt x="28554" y="3856095"/>
                </a:lnTo>
                <a:cubicBezTo>
                  <a:pt x="30458" y="3735660"/>
                  <a:pt x="27412" y="3615306"/>
                  <a:pt x="15626" y="3495237"/>
                </a:cubicBezTo>
                <a:cubicBezTo>
                  <a:pt x="-847" y="3348740"/>
                  <a:pt x="-4304" y="3201174"/>
                  <a:pt x="5296" y="3054118"/>
                </a:cubicBezTo>
                <a:cubicBezTo>
                  <a:pt x="11786" y="2969961"/>
                  <a:pt x="18539" y="2885804"/>
                  <a:pt x="22776" y="2801522"/>
                </a:cubicBezTo>
                <a:cubicBezTo>
                  <a:pt x="28180" y="2681630"/>
                  <a:pt x="25173" y="2561524"/>
                  <a:pt x="13771" y="2442014"/>
                </a:cubicBezTo>
                <a:cubicBezTo>
                  <a:pt x="4237" y="2350879"/>
                  <a:pt x="3177" y="2259120"/>
                  <a:pt x="10593" y="2167807"/>
                </a:cubicBezTo>
                <a:cubicBezTo>
                  <a:pt x="25690" y="2012336"/>
                  <a:pt x="9931" y="1856863"/>
                  <a:pt x="5032" y="1701516"/>
                </a:cubicBezTo>
                <a:cubicBezTo>
                  <a:pt x="-3577" y="1415742"/>
                  <a:pt x="20393" y="1130095"/>
                  <a:pt x="9666" y="844320"/>
                </a:cubicBezTo>
                <a:cubicBezTo>
                  <a:pt x="3841" y="702958"/>
                  <a:pt x="16420" y="561723"/>
                  <a:pt x="9666" y="420361"/>
                </a:cubicBezTo>
                <a:cubicBezTo>
                  <a:pt x="4105" y="319805"/>
                  <a:pt x="397" y="219250"/>
                  <a:pt x="4105" y="118568"/>
                </a:cubicBezTo>
                <a:cubicBezTo>
                  <a:pt x="5164" y="91109"/>
                  <a:pt x="5826" y="63523"/>
                  <a:pt x="9534" y="36446"/>
                </a:cubicBezTo>
                <a:close/>
              </a:path>
            </a:pathLst>
          </a:custGeom>
        </p:spPr>
      </p:pic>
      <p:sp>
        <p:nvSpPr>
          <p:cNvPr id="15" name="sketch line">
            <a:extLst>
              <a:ext uri="{FF2B5EF4-FFF2-40B4-BE49-F238E27FC236}">
                <a16:creationId xmlns:a16="http://schemas.microsoft.com/office/drawing/2014/main" id="{28C31856-6ABF-41FD-B683-B06E5FFF9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8439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BFA0E-DE00-C123-1B95-6D3D088B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CONFIDENTIAL - Houby GrowTech, LLC.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D2825-B369-1922-A7E9-5D893D63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D4F7CE6-2069-4612-9DAD-DA5F91614AC1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80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4F7C-8DDF-94FD-AB0B-6CBB5FA4A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Whys of the Incubator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9613-63C0-C5C9-9F9B-F873FDC8B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3343"/>
            <a:ext cx="10515600" cy="3923620"/>
          </a:xfrm>
        </p:spPr>
        <p:txBody>
          <a:bodyPr/>
          <a:lstStyle/>
          <a:p>
            <a:r>
              <a:rPr lang="en-US" dirty="0"/>
              <a:t>Why Grow Microbes?</a:t>
            </a:r>
          </a:p>
          <a:p>
            <a:r>
              <a:rPr lang="en-US" dirty="0"/>
              <a:t>Why Mycelium?</a:t>
            </a:r>
          </a:p>
          <a:p>
            <a:r>
              <a:rPr lang="en-US" dirty="0"/>
              <a:t>Why Does Growing Meat and Fish Sound Bizarre?</a:t>
            </a:r>
          </a:p>
          <a:p>
            <a:r>
              <a:rPr lang="en-US" dirty="0"/>
              <a:t>Why Does Growing Bricks Sound Bizarre?</a:t>
            </a:r>
          </a:p>
          <a:p>
            <a:r>
              <a:rPr lang="en-US" dirty="0"/>
              <a:t>Why Grow Pharmaceuticals?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B5940-26D5-E86E-D5E6-E5C617970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39231-3808-8BEB-DEB9-31A05148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80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2DF8-E0C6-AC4B-1324-471DB068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Incubator Project: Software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21AFF-6C74-9756-44C3-B7CD811A4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Majority of the software is written in C.</a:t>
            </a:r>
          </a:p>
          <a:p>
            <a:r>
              <a:rPr lang="en-US" dirty="0"/>
              <a:t>We use Microsoft Visual Studio Code IDE for developing the software.</a:t>
            </a:r>
          </a:p>
          <a:p>
            <a:r>
              <a:rPr lang="en-US" dirty="0"/>
              <a:t>Espressif’s ESP-IDF Framework is used as the key backbone for the system.</a:t>
            </a:r>
          </a:p>
          <a:p>
            <a:r>
              <a:rPr lang="en-US" dirty="0"/>
              <a:t>The VSCode Espressif ESP-IDF extension is required.</a:t>
            </a:r>
          </a:p>
          <a:p>
            <a:r>
              <a:rPr lang="en-US" dirty="0"/>
              <a:t>We use Git as the version control system.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96A0A-8122-0789-4E68-59106C15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E95AF-E95E-968C-816F-D0562341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73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C901-10F5-7515-FC26-125BE10F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943" y="365126"/>
            <a:ext cx="10014856" cy="505731"/>
          </a:xfrm>
        </p:spPr>
        <p:txBody>
          <a:bodyPr>
            <a:normAutofit fontScale="90000"/>
          </a:bodyPr>
          <a:lstStyle/>
          <a:p>
            <a:r>
              <a:rPr lang="en-US" dirty="0"/>
              <a:t>Incubator: Espressif ESP-IDF Essentials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488CE-AECC-F8B8-94AD-83179C96B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4"/>
          </a:xfrm>
        </p:spPr>
        <p:txBody>
          <a:bodyPr/>
          <a:lstStyle/>
          <a:p>
            <a:r>
              <a:rPr lang="en-US" b="1" dirty="0"/>
              <a:t>ESP-IDF</a:t>
            </a:r>
            <a:r>
              <a:rPr lang="en-US" dirty="0"/>
              <a:t> (</a:t>
            </a:r>
            <a:r>
              <a:rPr lang="en-US" b="1" i="1" dirty="0"/>
              <a:t>Espressif</a:t>
            </a:r>
            <a:r>
              <a:rPr lang="en-US" dirty="0"/>
              <a:t> IoT Development Framework) is the official, comprehensive software development framework for Espressif Systems' microcontrollers (such as the ESP32 series). (based on Google’s AI engine).</a:t>
            </a:r>
          </a:p>
          <a:p>
            <a:r>
              <a:rPr lang="en-US" dirty="0"/>
              <a:t>The framework is built to be self-sufficient and includes the following core elements:</a:t>
            </a:r>
          </a:p>
          <a:p>
            <a:pPr lvl="1"/>
            <a:r>
              <a:rPr lang="en-US" dirty="0"/>
              <a:t>Real-Time Operating System (FreeRTOS)</a:t>
            </a:r>
          </a:p>
          <a:p>
            <a:pPr lvl="1"/>
            <a:r>
              <a:rPr lang="en-US" dirty="0"/>
              <a:t>Hardware Abstraction &amp; Drivers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Networking &amp; Communication Stacks</a:t>
            </a:r>
          </a:p>
          <a:p>
            <a:pPr lvl="1"/>
            <a:r>
              <a:rPr lang="en-US" dirty="0"/>
              <a:t>Security &amp; Storage</a:t>
            </a:r>
          </a:p>
          <a:p>
            <a:pPr lvl="1"/>
            <a:r>
              <a:rPr lang="en-US" dirty="0"/>
              <a:t>Build &amp; Debug Tools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E00F9-98B2-0946-2A1B-2F0BC6D7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05908-4AF1-1302-BD61-2DCCF160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2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36E4-D428-B5A6-E4FF-89E3310E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Incubator, ESP32 Architecture Specifics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53E31-055A-AC3C-7EAC-9D39EB211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32-bit architecture. </a:t>
            </a:r>
          </a:p>
          <a:p>
            <a:r>
              <a:rPr lang="en-US" dirty="0"/>
              <a:t>GPIO. General Purpose IO.</a:t>
            </a:r>
          </a:p>
          <a:p>
            <a:r>
              <a:rPr lang="en-US" dirty="0"/>
              <a:t>I2C communications. Most of the sensors that we use are I2C devices. I2C is a serial bus type architecture.</a:t>
            </a:r>
          </a:p>
          <a:p>
            <a:r>
              <a:rPr lang="en-US" dirty="0"/>
              <a:t>SPI communications. Used with some LCD boards. Also a serial bus type architecture</a:t>
            </a:r>
          </a:p>
          <a:p>
            <a:r>
              <a:rPr lang="en-US" dirty="0"/>
              <a:t>WiFi communications.</a:t>
            </a:r>
          </a:p>
          <a:p>
            <a:r>
              <a:rPr lang="en-US" dirty="0"/>
              <a:t>Non-volatile storage.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CB692-5FCC-6ADA-E535-F10143BC2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B27C8-9CDC-50AE-65D6-95396E0B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3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5592D-E36F-479C-D0FB-248C8D58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Incubator: ESP-IDF Components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0C4448-7BD1-5FA3-088F-EBB74363F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22" y="2357438"/>
            <a:ext cx="10512355" cy="328771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99B48-2F00-7008-5C13-987C797B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63564-7F47-EB60-04A0-66DD32EE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6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9BAA-4E27-B151-4040-E4E9310DD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Incubator: Building the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B676-3DFC-A910-6D06-61BBF5202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is in the </a:t>
            </a:r>
            <a:r>
              <a:rPr lang="en-US" b="1" dirty="0"/>
              <a:t>ESPIDF_Incubator </a:t>
            </a:r>
            <a:r>
              <a:rPr lang="en-US" dirty="0"/>
              <a:t>Github Repository. Directions for cloning and building forthcoming.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4D9E1-5044-D824-30B3-4B4B27EB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Houby GrowTech, LLC.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3827F-D10E-FC06-9702-7B1C71AD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F7CE6-2069-4612-9DAD-DA5F91614A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6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412</Words>
  <Application>Microsoft Office PowerPoint</Application>
  <PresentationFormat>Widescreen</PresentationFormat>
  <Paragraphs>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The Incubator Project</vt:lpstr>
      <vt:lpstr>What the Incubator does</vt:lpstr>
      <vt:lpstr>Incubator Proof-of-concept</vt:lpstr>
      <vt:lpstr>The Whys of the Incubator Project</vt:lpstr>
      <vt:lpstr>Incubator Project: Software basics</vt:lpstr>
      <vt:lpstr>Incubator: Espressif ESP-IDF Essentials</vt:lpstr>
      <vt:lpstr>Incubator, ESP32 Architecture Specifics</vt:lpstr>
      <vt:lpstr>Incubator: ESP-IDF Components</vt:lpstr>
      <vt:lpstr>Incubator: Building the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Wicks</dc:creator>
  <cp:lastModifiedBy>George Wicks</cp:lastModifiedBy>
  <cp:revision>2</cp:revision>
  <dcterms:created xsi:type="dcterms:W3CDTF">2026-05-21T23:03:49Z</dcterms:created>
  <dcterms:modified xsi:type="dcterms:W3CDTF">2026-05-22T02:44:51Z</dcterms:modified>
</cp:coreProperties>
</file>